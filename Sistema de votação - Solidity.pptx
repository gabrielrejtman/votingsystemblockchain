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Barlow ExtraLight"/>
      <p:regular r:id="rId19"/>
      <p:bold r:id="rId20"/>
      <p:italic r:id="rId21"/>
      <p:boldItalic r:id="rId22"/>
    </p:embeddedFont>
    <p:embeddedFont>
      <p:font typeface="Hepta Slab Medium"/>
      <p:regular r:id="rId23"/>
      <p:bold r:id="rId24"/>
    </p:embeddedFont>
    <p:embeddedFont>
      <p:font typeface="Hepta Slab Light"/>
      <p:regular r:id="rId25"/>
      <p:bold r:id="rId26"/>
    </p:embeddedFont>
    <p:embeddedFont>
      <p:font typeface="Hepta Slab"/>
      <p:regular r:id="rId27"/>
      <p:bold r:id="rId28"/>
    </p:embeddedFont>
    <p:embeddedFont>
      <p:font typeface="Barlow Medium"/>
      <p:regular r:id="rId29"/>
      <p:bold r:id="rId30"/>
      <p:italic r:id="rId31"/>
      <p:boldItalic r:id="rId32"/>
    </p:embeddedFont>
    <p:embeddedFont>
      <p:font typeface="Barlow Light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20" Type="http://schemas.openxmlformats.org/officeDocument/2006/relationships/font" Target="fonts/BarlowExtraLight-bold.fntdata"/><Relationship Id="rId22" Type="http://schemas.openxmlformats.org/officeDocument/2006/relationships/font" Target="fonts/BarlowExtraLight-boldItalic.fntdata"/><Relationship Id="rId21" Type="http://schemas.openxmlformats.org/officeDocument/2006/relationships/font" Target="fonts/BarlowExtraLight-italic.fntdata"/><Relationship Id="rId24" Type="http://schemas.openxmlformats.org/officeDocument/2006/relationships/font" Target="fonts/HeptaSlabMedium-bold.fntdata"/><Relationship Id="rId23" Type="http://schemas.openxmlformats.org/officeDocument/2006/relationships/font" Target="fonts/HeptaSlab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HeptaSlabLight-bold.fntdata"/><Relationship Id="rId25" Type="http://schemas.openxmlformats.org/officeDocument/2006/relationships/font" Target="fonts/HeptaSlabLight-regular.fntdata"/><Relationship Id="rId28" Type="http://schemas.openxmlformats.org/officeDocument/2006/relationships/font" Target="fonts/HeptaSlab-bold.fntdata"/><Relationship Id="rId27" Type="http://schemas.openxmlformats.org/officeDocument/2006/relationships/font" Target="fonts/HeptaSlab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Medium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Medium-italic.fntdata"/><Relationship Id="rId30" Type="http://schemas.openxmlformats.org/officeDocument/2006/relationships/font" Target="fonts/BarlowMedium-bold.fntdata"/><Relationship Id="rId11" Type="http://schemas.openxmlformats.org/officeDocument/2006/relationships/slide" Target="slides/slide5.xml"/><Relationship Id="rId33" Type="http://schemas.openxmlformats.org/officeDocument/2006/relationships/font" Target="fonts/BarlowLight-regular.fntdata"/><Relationship Id="rId10" Type="http://schemas.openxmlformats.org/officeDocument/2006/relationships/slide" Target="slides/slide4.xml"/><Relationship Id="rId32" Type="http://schemas.openxmlformats.org/officeDocument/2006/relationships/font" Target="fonts/BarlowMedium-boldItalic.fntdata"/><Relationship Id="rId13" Type="http://schemas.openxmlformats.org/officeDocument/2006/relationships/slide" Target="slides/slide7.xml"/><Relationship Id="rId35" Type="http://schemas.openxmlformats.org/officeDocument/2006/relationships/font" Target="fonts/BarlowLight-italic.fntdata"/><Relationship Id="rId12" Type="http://schemas.openxmlformats.org/officeDocument/2006/relationships/slide" Target="slides/slide6.xml"/><Relationship Id="rId34" Type="http://schemas.openxmlformats.org/officeDocument/2006/relationships/font" Target="fonts/BarlowLight-bold.fntdata"/><Relationship Id="rId15" Type="http://schemas.openxmlformats.org/officeDocument/2006/relationships/slide" Target="slides/slide9.xml"/><Relationship Id="rId37" Type="http://schemas.openxmlformats.org/officeDocument/2006/relationships/font" Target="fonts/Barlow-regular.fntdata"/><Relationship Id="rId14" Type="http://schemas.openxmlformats.org/officeDocument/2006/relationships/slide" Target="slides/slide8.xml"/><Relationship Id="rId36" Type="http://schemas.openxmlformats.org/officeDocument/2006/relationships/font" Target="fonts/BarlowLight-boldItalic.fntdata"/><Relationship Id="rId17" Type="http://schemas.openxmlformats.org/officeDocument/2006/relationships/slide" Target="slides/slide11.xml"/><Relationship Id="rId39" Type="http://schemas.openxmlformats.org/officeDocument/2006/relationships/font" Target="fonts/Barlow-italic.fntdata"/><Relationship Id="rId16" Type="http://schemas.openxmlformats.org/officeDocument/2006/relationships/slide" Target="slides/slide10.xml"/><Relationship Id="rId38" Type="http://schemas.openxmlformats.org/officeDocument/2006/relationships/font" Target="fonts/Barlow-bold.fntdata"/><Relationship Id="rId19" Type="http://schemas.openxmlformats.org/officeDocument/2006/relationships/font" Target="fonts/BarlowExtraLight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4df7cd720c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4df7cd720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df7cd720c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4df7cd720c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df7cd720c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4df7cd720c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df7cd720c_2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4df7cd720c_2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4df7cd720c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4df7cd720c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4df7cd720c_2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4df7cd720c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4df7cd720c_2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4df7cd720c_2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7f3206dc8_8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67f3206dc8_8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67f3206dc8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67f3206dc8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4df7cd720c_2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4df7cd720c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4df7cd720c_2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4df7cd720c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67f3206dc8_8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67f3206dc8_8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4600"/>
              <a:t>SISTEMA DE VOTAÇÃO COM SOLIDITY</a:t>
            </a:r>
            <a:endParaRPr sz="4600"/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3224850" y="3453600"/>
            <a:ext cx="2694300" cy="5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900"/>
              <a:t>Dário</a:t>
            </a:r>
            <a:r>
              <a:rPr lang="en" sz="900"/>
              <a:t> Souza Rocha Filho (2215310006)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900"/>
              <a:t>Gabriel Dias Rejtman </a:t>
            </a:r>
            <a:r>
              <a:rPr lang="en" sz="900"/>
              <a:t>(2215310051)</a:t>
            </a:r>
            <a:endParaRPr sz="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900"/>
              <a:t>Gabriel Machado Moreira </a:t>
            </a:r>
            <a:r>
              <a:rPr lang="en" sz="900"/>
              <a:t>(2215310008)</a:t>
            </a:r>
            <a:endParaRPr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378" name="Google Shape;378;p60"/>
          <p:cNvSpPr txBox="1"/>
          <p:nvPr>
            <p:ph idx="2" type="body"/>
          </p:nvPr>
        </p:nvSpPr>
        <p:spPr>
          <a:xfrm>
            <a:off x="7872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9" name="Google Shape;379;p60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380" name="Google Shape;380;p60"/>
          <p:cNvSpPr txBox="1"/>
          <p:nvPr>
            <p:ph idx="8" type="body"/>
          </p:nvPr>
        </p:nvSpPr>
        <p:spPr>
          <a:xfrm>
            <a:off x="856147" y="2652805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60"/>
          <p:cNvSpPr txBox="1"/>
          <p:nvPr>
            <p:ph idx="9" type="subTitle"/>
          </p:nvPr>
        </p:nvSpPr>
        <p:spPr>
          <a:xfrm>
            <a:off x="1768071" y="2652530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GERAL</a:t>
            </a:r>
            <a:endParaRPr/>
          </a:p>
        </p:txBody>
      </p:sp>
      <p:sp>
        <p:nvSpPr>
          <p:cNvPr id="382" name="Google Shape;382;p60"/>
          <p:cNvSpPr txBox="1"/>
          <p:nvPr>
            <p:ph idx="14" type="body"/>
          </p:nvPr>
        </p:nvSpPr>
        <p:spPr>
          <a:xfrm>
            <a:off x="48227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3" name="Google Shape;383;p60"/>
          <p:cNvSpPr txBox="1"/>
          <p:nvPr>
            <p:ph idx="15" type="subTitle"/>
          </p:nvPr>
        </p:nvSpPr>
        <p:spPr>
          <a:xfrm>
            <a:off x="5734700" y="980275"/>
            <a:ext cx="33630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sp>
        <p:nvSpPr>
          <p:cNvPr id="384" name="Google Shape;384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60"/>
          <p:cNvSpPr txBox="1"/>
          <p:nvPr>
            <p:ph idx="8" type="body"/>
          </p:nvPr>
        </p:nvSpPr>
        <p:spPr>
          <a:xfrm>
            <a:off x="4822772" y="2652668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6" name="Google Shape;386;p60"/>
          <p:cNvSpPr txBox="1"/>
          <p:nvPr>
            <p:ph idx="9" type="subTitle"/>
          </p:nvPr>
        </p:nvSpPr>
        <p:spPr>
          <a:xfrm>
            <a:off x="5734696" y="2652393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IMPLEMENTAÇÃO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392" name="Google Shape;392;p6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2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Digitalizar o processo de voto pode ser incrível em termos de agilidade, inclusão e economia. Porém:</a:t>
            </a:r>
            <a:endParaRPr/>
          </a:p>
        </p:txBody>
      </p:sp>
      <p:sp>
        <p:nvSpPr>
          <p:cNvPr id="398" name="Google Shape;398;p62"/>
          <p:cNvSpPr txBox="1"/>
          <p:nvPr>
            <p:ph type="title"/>
          </p:nvPr>
        </p:nvSpPr>
        <p:spPr>
          <a:xfrm>
            <a:off x="702825" y="1575737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Falsificação de votos</a:t>
            </a:r>
            <a:endParaRPr/>
          </a:p>
        </p:txBody>
      </p:sp>
      <p:sp>
        <p:nvSpPr>
          <p:cNvPr id="399" name="Google Shape;399;p62"/>
          <p:cNvSpPr txBox="1"/>
          <p:nvPr>
            <p:ph idx="2" type="title"/>
          </p:nvPr>
        </p:nvSpPr>
        <p:spPr>
          <a:xfrm>
            <a:off x="702825" y="2374900"/>
            <a:ext cx="24669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Anonimato e privacidade</a:t>
            </a:r>
            <a:endParaRPr/>
          </a:p>
        </p:txBody>
      </p:sp>
      <p:sp>
        <p:nvSpPr>
          <p:cNvPr id="400" name="Google Shape;400;p62"/>
          <p:cNvSpPr txBox="1"/>
          <p:nvPr>
            <p:ph idx="3" type="title"/>
          </p:nvPr>
        </p:nvSpPr>
        <p:spPr>
          <a:xfrm>
            <a:off x="702825" y="319409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Auditoria confiável</a:t>
            </a:r>
            <a:endParaRPr/>
          </a:p>
        </p:txBody>
      </p:sp>
      <p:sp>
        <p:nvSpPr>
          <p:cNvPr id="401" name="Google Shape;401;p62"/>
          <p:cNvSpPr txBox="1"/>
          <p:nvPr>
            <p:ph idx="4" type="title"/>
          </p:nvPr>
        </p:nvSpPr>
        <p:spPr>
          <a:xfrm>
            <a:off x="702825" y="4025075"/>
            <a:ext cx="23847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Centralização do poder</a:t>
            </a:r>
            <a:endParaRPr/>
          </a:p>
        </p:txBody>
      </p:sp>
      <p:sp>
        <p:nvSpPr>
          <p:cNvPr id="402" name="Google Shape;402;p62"/>
          <p:cNvSpPr txBox="1"/>
          <p:nvPr>
            <p:ph idx="4294967295" type="title"/>
          </p:nvPr>
        </p:nvSpPr>
        <p:spPr>
          <a:xfrm>
            <a:off x="3435929" y="1426350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Como garantir que o voto não foi alterado por alguém mal-intencionado?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3" name="Google Shape;403;p62"/>
          <p:cNvSpPr txBox="1"/>
          <p:nvPr>
            <p:ph idx="4294967295" type="title"/>
          </p:nvPr>
        </p:nvSpPr>
        <p:spPr>
          <a:xfrm>
            <a:off x="3436503" y="2330979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É preciso garantir que ninguém saiba em quem você votou, mas ainda assim que seu voto foi contado.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4" name="Google Shape;404;p62"/>
          <p:cNvSpPr txBox="1"/>
          <p:nvPr>
            <p:ph idx="4294967295" type="title"/>
          </p:nvPr>
        </p:nvSpPr>
        <p:spPr>
          <a:xfrm>
            <a:off x="3436500" y="3106122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Como provar que o resultado final é legítimo, sem depender de um único sistema central?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05" name="Google Shape;405;p62"/>
          <p:cNvSpPr txBox="1"/>
          <p:nvPr>
            <p:ph idx="4294967295" type="title"/>
          </p:nvPr>
        </p:nvSpPr>
        <p:spPr>
          <a:xfrm>
            <a:off x="3435925" y="3742025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Em sistemas centralizados, uma entidade com acesso total pode manipular resultados — ou ser vítima de ataque.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06" name="Google Shape;406;p62"/>
          <p:cNvCxnSpPr/>
          <p:nvPr/>
        </p:nvCxnSpPr>
        <p:spPr>
          <a:xfrm>
            <a:off x="791150" y="137157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62"/>
          <p:cNvCxnSpPr/>
          <p:nvPr/>
        </p:nvCxnSpPr>
        <p:spPr>
          <a:xfrm>
            <a:off x="791150" y="2184934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62"/>
          <p:cNvCxnSpPr/>
          <p:nvPr/>
        </p:nvCxnSpPr>
        <p:spPr>
          <a:xfrm>
            <a:off x="791150" y="30110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62"/>
          <p:cNvCxnSpPr/>
          <p:nvPr/>
        </p:nvCxnSpPr>
        <p:spPr>
          <a:xfrm>
            <a:off x="791150" y="38117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62"/>
          <p:cNvCxnSpPr/>
          <p:nvPr/>
        </p:nvCxnSpPr>
        <p:spPr>
          <a:xfrm>
            <a:off x="791150" y="462512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6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412" name="Google Shape;412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3"/>
          <p:cNvSpPr txBox="1"/>
          <p:nvPr>
            <p:ph type="title"/>
          </p:nvPr>
        </p:nvSpPr>
        <p:spPr>
          <a:xfrm>
            <a:off x="697350" y="3087700"/>
            <a:ext cx="7749300" cy="86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GERAL</a:t>
            </a:r>
            <a:endParaRPr/>
          </a:p>
        </p:txBody>
      </p:sp>
      <p:sp>
        <p:nvSpPr>
          <p:cNvPr id="418" name="Google Shape;418;p63"/>
          <p:cNvSpPr txBox="1"/>
          <p:nvPr>
            <p:ph idx="2" type="title"/>
          </p:nvPr>
        </p:nvSpPr>
        <p:spPr>
          <a:xfrm>
            <a:off x="3278250" y="1194450"/>
            <a:ext cx="2587500" cy="18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Geral</a:t>
            </a:r>
            <a:endParaRPr/>
          </a:p>
        </p:txBody>
      </p:sp>
      <p:sp>
        <p:nvSpPr>
          <p:cNvPr id="424" name="Google Shape;424;p64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Desenvolver um sistema de votação eletrônico simples, transparente, auditável e descentralizado, mantendo os votos íntegros e imutáveis.</a:t>
            </a:r>
            <a:endParaRPr/>
          </a:p>
        </p:txBody>
      </p:sp>
      <p:sp>
        <p:nvSpPr>
          <p:cNvPr id="425" name="Google Shape;425;p6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5"/>
          <p:cNvSpPr txBox="1"/>
          <p:nvPr>
            <p:ph type="title"/>
          </p:nvPr>
        </p:nvSpPr>
        <p:spPr>
          <a:xfrm>
            <a:off x="697350" y="3063750"/>
            <a:ext cx="7749300" cy="88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sp>
        <p:nvSpPr>
          <p:cNvPr id="431" name="Google Shape;431;p65"/>
          <p:cNvSpPr txBox="1"/>
          <p:nvPr>
            <p:ph idx="2" type="title"/>
          </p:nvPr>
        </p:nvSpPr>
        <p:spPr>
          <a:xfrm>
            <a:off x="3278250" y="1194450"/>
            <a:ext cx="2587500" cy="18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6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SOLUÇÃO PROPOSTA</a:t>
            </a:r>
            <a:endParaRPr/>
          </a:p>
        </p:txBody>
      </p:sp>
      <p:sp>
        <p:nvSpPr>
          <p:cNvPr id="437" name="Google Shape;437;p66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Utilizar a blockchain Ethereum para garantir a integridade, transparência e imutabilidade do processo eleitoral. Por meio de uma interface web construída com Streamlit, o owner da votação pode cadastrar candidatos e os usuários podem votar utilizando CPF (anonimizado via hash), consultar resultados e visualizar gráficos de votação. Todas as ações críticas, como o registro de candidatos e votos, são armazenadas na blockchain através de transações assinadas com uma chave privada, garantindo segurança e auditabilidade pública.</a:t>
            </a:r>
            <a:endParaRPr sz="1800"/>
          </a:p>
        </p:txBody>
      </p:sp>
      <p:sp>
        <p:nvSpPr>
          <p:cNvPr id="438" name="Google Shape;438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7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Algumas regras de negócio foram estabelecidas para garantir a confiabilidade do sistema. Tais quais:</a:t>
            </a:r>
            <a:endParaRPr/>
          </a:p>
        </p:txBody>
      </p:sp>
      <p:sp>
        <p:nvSpPr>
          <p:cNvPr id="444" name="Google Shape;444;p67"/>
          <p:cNvSpPr txBox="1"/>
          <p:nvPr>
            <p:ph type="title"/>
          </p:nvPr>
        </p:nvSpPr>
        <p:spPr>
          <a:xfrm>
            <a:off x="702825" y="1575737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CPF</a:t>
            </a:r>
            <a:endParaRPr/>
          </a:p>
        </p:txBody>
      </p:sp>
      <p:sp>
        <p:nvSpPr>
          <p:cNvPr id="445" name="Google Shape;445;p67"/>
          <p:cNvSpPr txBox="1"/>
          <p:nvPr>
            <p:ph idx="2" type="title"/>
          </p:nvPr>
        </p:nvSpPr>
        <p:spPr>
          <a:xfrm>
            <a:off x="702825" y="2374900"/>
            <a:ext cx="24669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Anonimato e privacidade</a:t>
            </a:r>
            <a:endParaRPr/>
          </a:p>
        </p:txBody>
      </p:sp>
      <p:sp>
        <p:nvSpPr>
          <p:cNvPr id="446" name="Google Shape;446;p67"/>
          <p:cNvSpPr txBox="1"/>
          <p:nvPr>
            <p:ph idx="3" type="title"/>
          </p:nvPr>
        </p:nvSpPr>
        <p:spPr>
          <a:xfrm>
            <a:off x="702825" y="319409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Integridade</a:t>
            </a:r>
            <a:endParaRPr/>
          </a:p>
        </p:txBody>
      </p:sp>
      <p:sp>
        <p:nvSpPr>
          <p:cNvPr id="447" name="Google Shape;447;p67"/>
          <p:cNvSpPr txBox="1"/>
          <p:nvPr>
            <p:ph idx="4" type="title"/>
          </p:nvPr>
        </p:nvSpPr>
        <p:spPr>
          <a:xfrm>
            <a:off x="702825" y="4025075"/>
            <a:ext cx="23847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Descentralização</a:t>
            </a:r>
            <a:endParaRPr/>
          </a:p>
        </p:txBody>
      </p:sp>
      <p:sp>
        <p:nvSpPr>
          <p:cNvPr id="448" name="Google Shape;448;p67"/>
          <p:cNvSpPr txBox="1"/>
          <p:nvPr>
            <p:ph idx="4294967295" type="title"/>
          </p:nvPr>
        </p:nvSpPr>
        <p:spPr>
          <a:xfrm>
            <a:off x="3435929" y="1426350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Cada usuário só pode votar uma vez, contudo, o sistema NÃO pode ter acesso direto ao CPF do usuário. Para isso, o CPF é criptografado.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9" name="Google Shape;449;p67"/>
          <p:cNvSpPr txBox="1"/>
          <p:nvPr>
            <p:ph idx="4294967295" type="title"/>
          </p:nvPr>
        </p:nvSpPr>
        <p:spPr>
          <a:xfrm>
            <a:off x="3436503" y="2330979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O CPF não deve ser vinculado ao voto.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0" name="Google Shape;450;p67"/>
          <p:cNvSpPr txBox="1"/>
          <p:nvPr>
            <p:ph idx="4294967295" type="title"/>
          </p:nvPr>
        </p:nvSpPr>
        <p:spPr>
          <a:xfrm>
            <a:off x="3436500" y="3106122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Somente o owner pode adicionar novos candidatos e os dados do candidato não podem ser alterados.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1" name="Google Shape;451;p67"/>
          <p:cNvSpPr txBox="1"/>
          <p:nvPr>
            <p:ph idx="4294967295" type="title"/>
          </p:nvPr>
        </p:nvSpPr>
        <p:spPr>
          <a:xfrm>
            <a:off x="3435925" y="3742025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Uso da rede ETHEREUM da MetaMask.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52" name="Google Shape;452;p67"/>
          <p:cNvCxnSpPr/>
          <p:nvPr/>
        </p:nvCxnSpPr>
        <p:spPr>
          <a:xfrm>
            <a:off x="791150" y="137157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67"/>
          <p:cNvCxnSpPr/>
          <p:nvPr/>
        </p:nvCxnSpPr>
        <p:spPr>
          <a:xfrm>
            <a:off x="791150" y="2184934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67"/>
          <p:cNvCxnSpPr/>
          <p:nvPr/>
        </p:nvCxnSpPr>
        <p:spPr>
          <a:xfrm>
            <a:off x="791150" y="30110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67"/>
          <p:cNvCxnSpPr/>
          <p:nvPr/>
        </p:nvCxnSpPr>
        <p:spPr>
          <a:xfrm>
            <a:off x="791150" y="38117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67"/>
          <p:cNvCxnSpPr/>
          <p:nvPr/>
        </p:nvCxnSpPr>
        <p:spPr>
          <a:xfrm>
            <a:off x="791150" y="462512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6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REGRAS DE NEGÓCIO</a:t>
            </a:r>
            <a:endParaRPr/>
          </a:p>
        </p:txBody>
      </p:sp>
      <p:sp>
        <p:nvSpPr>
          <p:cNvPr id="458" name="Google Shape;458;p6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nfident business person wearing glasses." id="463" name="Google Shape;463;p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4504" r="24498" t="0"/>
          <a:stretch/>
        </p:blipFill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</p:spPr>
      </p:pic>
      <p:sp>
        <p:nvSpPr>
          <p:cNvPr id="464" name="Google Shape;464;p6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8"/>
          <p:cNvSpPr txBox="1"/>
          <p:nvPr>
            <p:ph type="title"/>
          </p:nvPr>
        </p:nvSpPr>
        <p:spPr>
          <a:xfrm>
            <a:off x="591450" y="391675"/>
            <a:ext cx="4397400" cy="33627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2863" rotWithShape="0" algn="bl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“A vida já roda em uma blockchain, transações irreversíveis e imutáveis.”</a:t>
            </a:r>
            <a:endParaRPr/>
          </a:p>
        </p:txBody>
      </p:sp>
      <p:sp>
        <p:nvSpPr>
          <p:cNvPr id="466" name="Google Shape;466;p68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Juliano Kimura</a:t>
            </a:r>
            <a:endParaRPr sz="1700"/>
          </a:p>
        </p:txBody>
      </p:sp>
    </p:spTree>
  </p:cSld>
  <p:clrMapOvr>
    <a:masterClrMapping/>
  </p:clrMapOvr>
  <mc:AlternateContent>
    <mc:Choice Requires="p14">
      <p:transition spd="slow" p14:dur="4800">
        <p14:prism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69"/>
          <p:cNvSpPr txBox="1"/>
          <p:nvPr>
            <p:ph type="title"/>
          </p:nvPr>
        </p:nvSpPr>
        <p:spPr>
          <a:xfrm>
            <a:off x="697350" y="3048150"/>
            <a:ext cx="7749300" cy="90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IMPLEMENTAÇÃO</a:t>
            </a:r>
            <a:endParaRPr/>
          </a:p>
        </p:txBody>
      </p:sp>
      <p:sp>
        <p:nvSpPr>
          <p:cNvPr id="472" name="Google Shape;472;p69"/>
          <p:cNvSpPr txBox="1"/>
          <p:nvPr>
            <p:ph idx="2" type="title"/>
          </p:nvPr>
        </p:nvSpPr>
        <p:spPr>
          <a:xfrm>
            <a:off x="3278250" y="1194450"/>
            <a:ext cx="2587500" cy="18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50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